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9" r:id="rId22"/>
    <p:sldId id="280" r:id="rId23"/>
    <p:sldId id="276" r:id="rId24"/>
    <p:sldId id="277" r:id="rId25"/>
    <p:sldId id="278" r:id="rId26"/>
  </p:sldIdLst>
  <p:sldSz cx="9144000" cy="5143500" type="screen16x9"/>
  <p:notesSz cx="6858000" cy="9144000"/>
  <p:embeddedFontLst>
    <p:embeddedFont>
      <p:font typeface="Montserrat" charset="0"/>
      <p:regular r:id="rId28"/>
      <p:bold r:id="rId29"/>
      <p:italic r:id="rId30"/>
      <p:boldItalic r:id="rId31"/>
    </p:embeddedFont>
    <p:embeddedFont>
      <p:font typeface="Lato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0A29D674-A1FC-47B5-B51D-0CA797CE9AEE}">
  <a:tblStyle styleId="{0A29D674-A1FC-47B5-B51D-0CA797CE9A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5" d="100"/>
          <a:sy n="95" d="100"/>
        </p:scale>
        <p:origin x="-436" y="2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96542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7f28dc08b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7f28dc08b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7f28dc08b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7f28dc08b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a6f1ee3a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a6f1ee3a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a6f1ee3a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a6f1ee3a7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a6f1ee3a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a6f1ee3a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17cae1b7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d17cae1b7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7f28dc08b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d7f28dc08b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17cae1b7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17cae1b7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7f28dc08b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7f28dc08b_0_3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7f28dc08b_0_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7f28dc08b_0_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7f28dc08b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7f28dc08b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17cae1b7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d17cae1b7c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17cae1b7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17cae1b7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17cae1b7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17cae1b7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17cae1b7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17cae1b7c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a6f1ee3a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a6f1ee3a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17cae1b7c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17cae1b7c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17cae1b7c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17cae1b7c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a6f1ee3a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a6f1ee3a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17cae1b7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d17cae1b7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17cae1b7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d17cae1b7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da6f1ee3a7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da6f1ee3a7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17cae1b7c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d17cae1b7c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17cae1b7c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d17cae1b7c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363150" y="99285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Semiconductor Manufacturing Process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4909950" y="2752038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Pass/Fail Prediction using Machine Learning</a:t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100025" y="3073300"/>
            <a:ext cx="54696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Team Members: </a:t>
            </a:r>
            <a:r>
              <a:rPr lang="en">
                <a:solidFill>
                  <a:srgbClr val="EFEFEF"/>
                </a:solidFill>
              </a:rPr>
              <a:t>1) </a:t>
            </a:r>
            <a:r>
              <a:rPr lang="en">
                <a:solidFill>
                  <a:srgbClr val="F3F3F3"/>
                </a:solidFill>
              </a:rPr>
              <a:t>D.Prince Joyal Dhas</a:t>
            </a:r>
            <a:endParaRPr>
              <a:solidFill>
                <a:srgbClr val="F3F3F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                           2) Arijit Bhunya</a:t>
            </a:r>
            <a:endParaRPr>
              <a:solidFill>
                <a:srgbClr val="F3F3F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                           3) Supriya Vasudev Kutemate</a:t>
            </a:r>
            <a:endParaRPr>
              <a:solidFill>
                <a:srgbClr val="F3F3F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                           4) Sumana Hens</a:t>
            </a:r>
            <a:endParaRPr>
              <a:solidFill>
                <a:srgbClr val="F3F3F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                           5) Theja K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5624150" y="4097125"/>
            <a:ext cx="33687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rPr>
              <a:t>Internship By</a:t>
            </a: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:- Corizo Edutech Pvt.Ltd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Domain:- Data Science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Submission Date:- 06th April 2026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 b="1"/>
              <a:t>Introduction</a:t>
            </a:r>
            <a:endParaRPr sz="3620" b="1"/>
          </a:p>
        </p:txBody>
      </p:sp>
      <p:sp>
        <p:nvSpPr>
          <p:cNvPr id="143" name="Google Shape;143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ct val="86956"/>
              <a:buChar char="●"/>
            </a:pPr>
            <a:r>
              <a:rPr lang="en" sz="2300"/>
              <a:t>Semiconductor manufacturing involves complex processes</a:t>
            </a:r>
            <a:br>
              <a:rPr lang="en" sz="2300"/>
            </a:br>
            <a:endParaRPr sz="2300"/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ct val="86956"/>
              <a:buChar char="●"/>
            </a:pPr>
            <a:r>
              <a:rPr lang="en" sz="2300"/>
              <a:t>Small variations can cause product failure</a:t>
            </a:r>
            <a:br>
              <a:rPr lang="en" sz="2300"/>
            </a:br>
            <a:endParaRPr sz="230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86956"/>
              <a:buChar char="●"/>
            </a:pPr>
            <a:r>
              <a:rPr lang="en" sz="2300"/>
              <a:t>Machine learning helps in early prediction</a:t>
            </a:r>
            <a:endParaRPr sz="2300"/>
          </a:p>
          <a:p>
            <a:pPr marL="457200" lvl="0" indent="-3365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91638"/>
              <a:buChar char="●"/>
            </a:pPr>
            <a:r>
              <a:rPr lang="en" sz="2182"/>
              <a:t>Uses sensor data and Generates large data</a:t>
            </a:r>
            <a:endParaRPr sz="2182"/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7493"/>
              <a:buFont typeface="Arial"/>
              <a:buNone/>
            </a:pPr>
            <a:endParaRPr sz="1795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en" sz="3630" b="1"/>
              <a:t>Problem Statement</a:t>
            </a:r>
            <a:endParaRPr sz="3630" b="1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990"/>
              <a:buNone/>
            </a:pPr>
            <a:endParaRPr sz="1530" b="1">
              <a:solidFill>
                <a:srgbClr val="000000"/>
              </a:solidFill>
            </a:endParaRPr>
          </a:p>
        </p:txBody>
      </p:sp>
      <p:sp>
        <p:nvSpPr>
          <p:cNvPr id="149" name="Google Shape;149;p15"/>
          <p:cNvSpPr txBox="1">
            <a:spLocks noGrp="1"/>
          </p:cNvSpPr>
          <p:nvPr>
            <p:ph type="body" idx="1"/>
          </p:nvPr>
        </p:nvSpPr>
        <p:spPr>
          <a:xfrm>
            <a:off x="311700" y="1418000"/>
            <a:ext cx="8520600" cy="32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0511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77"/>
              <a:buChar char="●"/>
            </a:pPr>
            <a:r>
              <a:rPr lang="en" sz="2309"/>
              <a:t>Predict </a:t>
            </a:r>
            <a:r>
              <a:rPr lang="en" sz="2309" b="1"/>
              <a:t>Pass (-1)</a:t>
            </a:r>
            <a:r>
              <a:rPr lang="en" sz="2309"/>
              <a:t> or </a:t>
            </a:r>
            <a:r>
              <a:rPr lang="en" sz="2309" b="1"/>
              <a:t>Fail (1)</a:t>
            </a:r>
            <a:br>
              <a:rPr lang="en" sz="2309" b="1"/>
            </a:br>
            <a:endParaRPr sz="2309" b="1"/>
          </a:p>
          <a:p>
            <a:pPr marL="457200" lvl="0" indent="-360511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77"/>
              <a:buChar char="●"/>
            </a:pPr>
            <a:r>
              <a:rPr lang="en" sz="2309"/>
              <a:t>Based on sensor measurements</a:t>
            </a:r>
            <a:br>
              <a:rPr lang="en" sz="2309"/>
            </a:br>
            <a:endParaRPr sz="2309"/>
          </a:p>
          <a:p>
            <a:pPr marL="457200" lvl="0" indent="-360511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077"/>
              <a:buChar char="●"/>
            </a:pPr>
            <a:r>
              <a:rPr lang="en" sz="2309"/>
              <a:t>Reduce defects and improve yield</a:t>
            </a:r>
            <a:endParaRPr sz="2809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Char char="●"/>
            </a:pPr>
            <a:r>
              <a:rPr lang="en" sz="2300"/>
              <a:t>Improve production quality</a:t>
            </a:r>
            <a:endParaRPr sz="2300"/>
          </a:p>
          <a:p>
            <a:pPr marL="457200" lvl="0" indent="-355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Char char="●"/>
            </a:pPr>
            <a:r>
              <a:rPr lang="en" sz="2300"/>
              <a:t>Identify important features</a:t>
            </a:r>
            <a:endParaRPr sz="230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endParaRPr sz="179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 sz="4000" b="1"/>
              <a:t>Project Objective</a:t>
            </a:r>
            <a:endParaRPr sz="4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●"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 We will build a classifier to predict the Pass/Fail yield of a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particular process entity and analyse whether all the features are required to build the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model or not.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/>
              <a:t>Business Insights</a:t>
            </a:r>
            <a:endParaRPr sz="4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●"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High operating pressure increased fault rates by about 18 % onLine A machines; reducing pressure set-points and adding preventive checks should cut defects and downtime.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/>
              <a:t>Recommendations</a:t>
            </a:r>
            <a:endParaRPr sz="4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●"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Adjust the temperature range to 180–200 °C (from 190–220 °C) to reduce thermal stress.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●"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Re-calibrate Machine B weekly using the standard gauge to keep tolerance under ±0.5 mm.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●"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Install a simple IoT vibration/temperature logger with alerts; check logs daily to catch drift early.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 b="1"/>
              <a:t>Dataset Description</a:t>
            </a:r>
            <a:endParaRPr sz="362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990"/>
              <a:buNone/>
            </a:pPr>
            <a:endParaRPr sz="1620">
              <a:solidFill>
                <a:schemeClr val="lt2"/>
              </a:solidFill>
            </a:endParaRPr>
          </a:p>
        </p:txBody>
      </p:sp>
      <p:sp>
        <p:nvSpPr>
          <p:cNvPr id="173" name="Google Shape;173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300"/>
              <a:t>Dataset: sensor-data.csv</a:t>
            </a:r>
            <a:endParaRPr sz="23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300"/>
              <a:t>1567 samples, 591 features</a:t>
            </a:r>
            <a:endParaRPr sz="23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300"/>
              <a:t>Target:</a:t>
            </a:r>
            <a:endParaRPr sz="23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300"/>
              <a:t>-1 → Pass</a:t>
            </a:r>
            <a:endParaRPr sz="23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300"/>
              <a:t>1 → Fail</a:t>
            </a: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990"/>
              <a:buNone/>
            </a:pPr>
            <a:r>
              <a:rPr lang="en" sz="3630" b="1"/>
              <a:t>Data Cleaning</a:t>
            </a:r>
            <a:endParaRPr sz="3630" b="1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ts val="990"/>
              <a:buNone/>
            </a:pPr>
            <a:endParaRPr sz="2520"/>
          </a:p>
        </p:txBody>
      </p:sp>
      <p:sp>
        <p:nvSpPr>
          <p:cNvPr id="179" name="Google Shape;179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3492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ct val="100000"/>
              <a:buChar char="●"/>
            </a:pPr>
            <a:r>
              <a:rPr lang="en" sz="7600"/>
              <a:t>Dataset contained many missing values</a:t>
            </a:r>
            <a:endParaRPr sz="7600"/>
          </a:p>
          <a:p>
            <a:pPr marL="457200" lvl="0" indent="-3492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Char char="●"/>
            </a:pPr>
            <a:r>
              <a:rPr lang="en" sz="7600"/>
              <a:t>Columns with more than 70% missing values were removed</a:t>
            </a:r>
            <a:endParaRPr sz="7600"/>
          </a:p>
          <a:p>
            <a:pPr marL="457200" lvl="0" indent="-3492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Char char="●"/>
            </a:pPr>
            <a:r>
              <a:rPr lang="en" sz="7600"/>
              <a:t>Remaining missing values were filled using median</a:t>
            </a:r>
            <a:endParaRPr sz="7600"/>
          </a:p>
          <a:p>
            <a:pPr marL="457200" lvl="0" indent="-3492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Char char="●"/>
            </a:pPr>
            <a:r>
              <a:rPr lang="en" sz="7600"/>
              <a:t>Median is robust to outliers</a:t>
            </a:r>
            <a:endParaRPr sz="7600"/>
          </a:p>
          <a:p>
            <a:pPr marL="457200" lvl="0" indent="-3492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Char char="●"/>
            </a:pPr>
            <a:r>
              <a:rPr lang="en" sz="7600"/>
              <a:t>Time column converted to datetime format</a:t>
            </a:r>
            <a:endParaRPr sz="76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>
            <a:spLocks noGrp="1"/>
          </p:cNvSpPr>
          <p:nvPr>
            <p:ph type="title"/>
          </p:nvPr>
        </p:nvSpPr>
        <p:spPr>
          <a:xfrm>
            <a:off x="1351925" y="448125"/>
            <a:ext cx="7197300" cy="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 b="1"/>
              <a:t>Data Analysis &amp; Visualization</a:t>
            </a:r>
            <a:endParaRPr sz="3620" b="1"/>
          </a:p>
        </p:txBody>
      </p:sp>
      <p:sp>
        <p:nvSpPr>
          <p:cNvPr id="185" name="Google Shape;185;p21"/>
          <p:cNvSpPr txBox="1">
            <a:spLocks noGrp="1"/>
          </p:cNvSpPr>
          <p:nvPr>
            <p:ph type="body" idx="1"/>
          </p:nvPr>
        </p:nvSpPr>
        <p:spPr>
          <a:xfrm>
            <a:off x="311700" y="1526750"/>
            <a:ext cx="8520600" cy="31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92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Checked data using .info() and .describe()</a:t>
            </a:r>
            <a:endParaRPr sz="1900"/>
          </a:p>
          <a:p>
            <a:pPr marL="457200" lvl="0" indent="-3492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Univariate Analysis: Histograms for distribution &amp; outliers</a:t>
            </a:r>
            <a:endParaRPr sz="1900"/>
          </a:p>
          <a:p>
            <a:pPr marL="457200" lvl="0" indent="-3492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Bivariate Analysis: Boxplots to compare features with Pass/Fail</a:t>
            </a:r>
            <a:endParaRPr sz="1900"/>
          </a:p>
          <a:p>
            <a:pPr marL="457200" lvl="0" indent="-3492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Multivariate Analysis: Correlation matrix using heatmap</a:t>
            </a:r>
            <a:endParaRPr sz="19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4033" b="1"/>
              <a:t>Data Preprocessing</a:t>
            </a:r>
            <a:endParaRPr sz="4033" b="1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2"/>
          <p:cNvSpPr txBox="1">
            <a:spLocks noGrp="1"/>
          </p:cNvSpPr>
          <p:nvPr>
            <p:ph type="body" idx="1"/>
          </p:nvPr>
        </p:nvSpPr>
        <p:spPr>
          <a:xfrm>
            <a:off x="1297500" y="1233125"/>
            <a:ext cx="7038900" cy="324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336794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6815"/>
              <a:t>Dropped Time column (not useful for prediction)</a:t>
            </a:r>
            <a:endParaRPr sz="6815"/>
          </a:p>
          <a:p>
            <a:pPr marL="457200" lvl="0" indent="-336794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815"/>
              <a:t>Dataset was imbalanced</a:t>
            </a:r>
            <a:endParaRPr sz="681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815"/>
              <a:t>                     Applied SMOTE to balance Pass/Fail classes</a:t>
            </a:r>
            <a:endParaRPr sz="6815"/>
          </a:p>
          <a:p>
            <a:pPr marL="457200" lvl="0" indent="-336794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6815"/>
              <a:t>Split data into:</a:t>
            </a:r>
            <a:endParaRPr sz="681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815"/>
              <a:t>                     Training set (80%)</a:t>
            </a:r>
            <a:endParaRPr sz="681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815"/>
              <a:t>                     Testing set (20%)</a:t>
            </a:r>
            <a:endParaRPr sz="6815"/>
          </a:p>
          <a:p>
            <a:pPr marL="457200" lvl="0" indent="-336794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6815"/>
              <a:t>Applied StandardScaler</a:t>
            </a:r>
            <a:endParaRPr sz="681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815"/>
              <a:t>                    Scaled features to mean = 0, std = 1</a:t>
            </a:r>
            <a:endParaRPr sz="681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6815"/>
              <a:t>                    Improved model performance</a:t>
            </a:r>
            <a:endParaRPr sz="6815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7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20" b="1"/>
              <a:t>Train-Test &amp; Scaling</a:t>
            </a:r>
            <a:endParaRPr sz="362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2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3620"/>
          </a:p>
        </p:txBody>
      </p:sp>
      <p:sp>
        <p:nvSpPr>
          <p:cNvPr id="197" name="Google Shape;197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300"/>
              <a:t>Split into training and testing data</a:t>
            </a:r>
            <a:endParaRPr sz="23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300"/>
              <a:t>Applied StandardScaler</a:t>
            </a:r>
            <a:endParaRPr sz="23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300"/>
              <a:t>Normalized the data</a:t>
            </a:r>
            <a:endParaRPr sz="23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/>
            </a:r>
            <a:br>
              <a:rPr lang="en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 </a:t>
            </a:r>
            <a:r>
              <a:rPr lang="en" sz="4022" b="1"/>
              <a:t>Models</a:t>
            </a:r>
            <a:r>
              <a:rPr lang="en" sz="4022"/>
              <a:t> </a:t>
            </a:r>
            <a:endParaRPr sz="4022"/>
          </a:p>
        </p:txBody>
      </p:sp>
      <p:sp>
        <p:nvSpPr>
          <p:cNvPr id="203" name="Google Shape;203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Logistic Regression (basic model)</a:t>
            </a:r>
            <a:endParaRPr sz="2200"/>
          </a:p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Random Forest (ensemble model)</a:t>
            </a:r>
            <a:endParaRPr sz="2200"/>
          </a:p>
          <a:p>
            <a:pPr marL="457200" lvl="0" indent="-3683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Support Vector Machine (SVM)</a:t>
            </a:r>
            <a:endParaRPr sz="22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22" b="1"/>
              <a:t>Cross Validation</a:t>
            </a:r>
            <a:endParaRPr sz="4022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300"/>
              <a:t>Evaluated models using cross-validation</a:t>
            </a:r>
            <a:endParaRPr sz="23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300"/>
              <a:t>Reduced overfitting</a:t>
            </a:r>
            <a:endParaRPr sz="23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300"/>
              <a:t>Random Forest showed strong performance</a:t>
            </a: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 b="1"/>
              <a:t>Hyperparameter Tuning</a:t>
            </a:r>
            <a:endParaRPr sz="3620" b="1"/>
          </a:p>
        </p:txBody>
      </p:sp>
      <p:sp>
        <p:nvSpPr>
          <p:cNvPr id="215" name="Google Shape;215;p2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86956"/>
              <a:buChar char="●"/>
            </a:pPr>
            <a:r>
              <a:rPr lang="en" sz="9200"/>
              <a:t>Used GridSearchCV</a:t>
            </a:r>
            <a:endParaRPr sz="92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86956"/>
              <a:buChar char="●"/>
            </a:pPr>
            <a:r>
              <a:rPr lang="en" sz="9200"/>
              <a:t>Tried multiple parameter combinations</a:t>
            </a:r>
            <a:endParaRPr sz="92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86956"/>
              <a:buChar char="●"/>
            </a:pPr>
            <a:r>
              <a:rPr lang="en" sz="9200"/>
              <a:t>Selected best parameters</a:t>
            </a:r>
            <a:endParaRPr sz="92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86956"/>
              <a:buChar char="●"/>
            </a:pPr>
            <a:r>
              <a:rPr lang="en" sz="9200"/>
              <a:t>Best Random Forest Parameters:</a:t>
            </a:r>
            <a:endParaRPr sz="9200"/>
          </a:p>
          <a:p>
            <a:pPr marL="457200" lvl="0" indent="-3556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86956"/>
              <a:buChar char="●"/>
            </a:pPr>
            <a:r>
              <a:rPr lang="en" sz="9200"/>
              <a:t>n_estimators = 100,max_depth = None</a:t>
            </a:r>
            <a:endParaRPr sz="9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>
            <a:spLocks noGrp="1"/>
          </p:cNvSpPr>
          <p:nvPr>
            <p:ph type="title"/>
          </p:nvPr>
        </p:nvSpPr>
        <p:spPr>
          <a:xfrm>
            <a:off x="1297500" y="364825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 b="1"/>
              <a:t>Model Results</a:t>
            </a:r>
            <a:endParaRPr sz="3620" b="1"/>
          </a:p>
        </p:txBody>
      </p:sp>
      <p:sp>
        <p:nvSpPr>
          <p:cNvPr id="221" name="Google Shape;221;p2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22" name="Google Shape;222;p27" title="WhatsApp Image 2026-03-21 at 12.54.02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425" y="1341900"/>
            <a:ext cx="3805975" cy="278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/>
        </p:nvSpPr>
        <p:spPr>
          <a:xfrm>
            <a:off x="5819875" y="4188650"/>
            <a:ext cx="2805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Train vs Test Accuracy</a:t>
            </a:r>
            <a:endParaRPr sz="1800">
              <a:solidFill>
                <a:srgbClr val="FFFF00"/>
              </a:solidFill>
            </a:endParaRPr>
          </a:p>
        </p:txBody>
      </p:sp>
      <p:graphicFrame>
        <p:nvGraphicFramePr>
          <p:cNvPr id="224" name="Google Shape;224;p27"/>
          <p:cNvGraphicFramePr/>
          <p:nvPr/>
        </p:nvGraphicFramePr>
        <p:xfrm>
          <a:off x="291050" y="1404425"/>
          <a:ext cx="4618050" cy="3269355"/>
        </p:xfrm>
        <a:graphic>
          <a:graphicData uri="http://schemas.openxmlformats.org/drawingml/2006/table">
            <a:tbl>
              <a:tblPr>
                <a:noFill/>
                <a:tableStyleId>{0A29D674-A1FC-47B5-B51D-0CA797CE9AEE}</a:tableStyleId>
              </a:tblPr>
              <a:tblGrid>
                <a:gridCol w="1442600"/>
                <a:gridCol w="1536750"/>
                <a:gridCol w="1638700"/>
              </a:tblGrid>
              <a:tr h="1029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 b="1">
                          <a:solidFill>
                            <a:srgbClr val="FFFFFF"/>
                          </a:solidFill>
                        </a:rPr>
                        <a:t>Model</a:t>
                      </a:r>
                      <a:endParaRPr sz="22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 b="1">
                          <a:solidFill>
                            <a:srgbClr val="FFFFFF"/>
                          </a:solidFill>
                        </a:rPr>
                        <a:t>Train Accuracy</a:t>
                      </a:r>
                      <a:endParaRPr sz="22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 b="1">
                          <a:solidFill>
                            <a:srgbClr val="FFFFFF"/>
                          </a:solidFill>
                        </a:rPr>
                        <a:t>Test Accuracy</a:t>
                      </a:r>
                      <a:endParaRPr sz="22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</a:tr>
              <a:tr h="1005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2"/>
                          </a:solidFill>
                        </a:rPr>
                        <a:t>Logistic Regression</a:t>
                      </a:r>
                      <a:endParaRPr sz="19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2"/>
                          </a:solidFill>
                        </a:rPr>
                        <a:t>0.97</a:t>
                      </a:r>
                      <a:endParaRPr sz="19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2"/>
                          </a:solidFill>
                        </a:rPr>
                        <a:t>0.965</a:t>
                      </a:r>
                      <a:endParaRPr sz="19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</a:tr>
              <a:tr h="747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2"/>
                          </a:solidFill>
                        </a:rPr>
                        <a:t>Random Forest</a:t>
                      </a:r>
                      <a:endParaRPr sz="19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2"/>
                          </a:solidFill>
                        </a:rPr>
                        <a:t>1.00</a:t>
                      </a:r>
                      <a:endParaRPr sz="19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2"/>
                          </a:solidFill>
                        </a:rPr>
                        <a:t>0.965</a:t>
                      </a:r>
                      <a:endParaRPr sz="19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</a:tr>
              <a:tr h="463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2"/>
                          </a:solidFill>
                        </a:rPr>
                        <a:t>SVM</a:t>
                      </a:r>
                      <a:endParaRPr sz="19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2"/>
                          </a:solidFill>
                        </a:rPr>
                        <a:t>0.97</a:t>
                      </a:r>
                      <a:endParaRPr sz="19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900">
                          <a:solidFill>
                            <a:schemeClr val="dk2"/>
                          </a:solidFill>
                        </a:rPr>
                        <a:t>0.971</a:t>
                      </a:r>
                      <a:endParaRPr sz="1900">
                        <a:solidFill>
                          <a:schemeClr val="dk2"/>
                        </a:solidFill>
                      </a:endParaRPr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 b="1"/>
              <a:t>Model Performance</a:t>
            </a:r>
            <a:endParaRPr sz="3620" b="1"/>
          </a:p>
        </p:txBody>
      </p:sp>
      <p:sp>
        <p:nvSpPr>
          <p:cNvPr id="230" name="Google Shape;230;p28"/>
          <p:cNvSpPr txBox="1">
            <a:spLocks noGrp="1"/>
          </p:cNvSpPr>
          <p:nvPr>
            <p:ph type="body" idx="1"/>
          </p:nvPr>
        </p:nvSpPr>
        <p:spPr>
          <a:xfrm>
            <a:off x="208775" y="1385375"/>
            <a:ext cx="6437700" cy="25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34477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96061"/>
              <a:buChar char="●"/>
            </a:pPr>
            <a:r>
              <a:rPr lang="en" sz="7617"/>
              <a:t>Performance Metrics:</a:t>
            </a:r>
            <a:endParaRPr sz="7617"/>
          </a:p>
          <a:p>
            <a:pPr marL="457200" lvl="0" indent="-34477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96061"/>
              <a:buChar char="●"/>
            </a:pPr>
            <a:r>
              <a:rPr lang="en" sz="7617"/>
              <a:t>Precision → Correct positive predictions</a:t>
            </a:r>
            <a:endParaRPr sz="7617"/>
          </a:p>
          <a:p>
            <a:pPr marL="457200" lvl="0" indent="-34477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96061"/>
              <a:buChar char="●"/>
            </a:pPr>
            <a:r>
              <a:rPr lang="en" sz="7617"/>
              <a:t>Recall → Correctly identified actual values</a:t>
            </a:r>
            <a:endParaRPr sz="7617"/>
          </a:p>
          <a:p>
            <a:pPr marL="457200" lvl="0" indent="-3447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6061"/>
              <a:buChar char="●"/>
            </a:pPr>
            <a:r>
              <a:rPr lang="en" sz="7617"/>
              <a:t>F1-score → Balance between precision &amp; </a:t>
            </a:r>
            <a:endParaRPr sz="7617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617"/>
              <a:t>recall</a:t>
            </a:r>
            <a:endParaRPr sz="7617"/>
          </a:p>
          <a:p>
            <a:pPr marL="45720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31" name="Google Shape;231;p28" title="WhatsApp Image 2026-03-21 at 12.54.02 PM 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1025" y="1176225"/>
            <a:ext cx="3458001" cy="2338276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/>
        </p:nvSpPr>
        <p:spPr>
          <a:xfrm>
            <a:off x="5413275" y="3558000"/>
            <a:ext cx="3553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Model Accuracy Comparison</a:t>
            </a:r>
            <a:endParaRPr sz="18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/>
              <a:t>Comparing Models</a:t>
            </a:r>
            <a:endParaRPr sz="3600" b="1"/>
          </a:p>
        </p:txBody>
      </p:sp>
      <p:sp>
        <p:nvSpPr>
          <p:cNvPr id="238" name="Google Shape;238;p2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600"/>
              </a:spcBef>
              <a:spcAft>
                <a:spcPts val="0"/>
              </a:spcAft>
              <a:buClr>
                <a:srgbClr val="E3E3E3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From the results, Random Forest performed better compared to other models.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 It handled the dataset well and gave stable accuracy on both training and testing data.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rgbClr val="E3E3E3"/>
              </a:buClr>
              <a:buSzPts val="2300"/>
              <a:buFont typeface="Arial"/>
              <a:buChar char="●"/>
            </a:pPr>
            <a:r>
              <a:rPr lang="en" sz="2300">
                <a:solidFill>
                  <a:srgbClr val="E3E3E3"/>
                </a:solidFill>
                <a:latin typeface="Arial"/>
                <a:ea typeface="Arial"/>
                <a:cs typeface="Arial"/>
                <a:sym typeface="Arial"/>
              </a:rPr>
              <a:t>So, Random Forest is selected as the final model.</a:t>
            </a:r>
            <a:endParaRPr sz="2300">
              <a:solidFill>
                <a:srgbClr val="E3E3E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6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 b="1"/>
              <a:t>Confusion Matrix</a:t>
            </a:r>
            <a:endParaRPr sz="3620" b="1"/>
          </a:p>
        </p:txBody>
      </p:sp>
      <p:sp>
        <p:nvSpPr>
          <p:cNvPr id="244" name="Google Shape;244;p30"/>
          <p:cNvSpPr txBox="1">
            <a:spLocks noGrp="1"/>
          </p:cNvSpPr>
          <p:nvPr>
            <p:ph type="body" idx="1"/>
          </p:nvPr>
        </p:nvSpPr>
        <p:spPr>
          <a:xfrm>
            <a:off x="426275" y="1548475"/>
            <a:ext cx="7649100" cy="31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600"/>
              <a:t>Evaluates model prediction performance</a:t>
            </a:r>
            <a:endParaRPr sz="76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600"/>
              <a:t>Results (Random Forest):</a:t>
            </a:r>
            <a:endParaRPr sz="7600"/>
          </a:p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600"/>
              <a:t>True Positives → 106</a:t>
            </a:r>
            <a:endParaRPr sz="7600"/>
          </a:p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600"/>
              <a:t>True Negatives → 59</a:t>
            </a:r>
            <a:endParaRPr sz="7600"/>
          </a:p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600"/>
              <a:t>False Positives → 4</a:t>
            </a:r>
            <a:endParaRPr sz="7600"/>
          </a:p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600"/>
              <a:t>False Negatives → 2</a:t>
            </a:r>
            <a:endParaRPr sz="7600"/>
          </a:p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9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45" name="Google Shape;245;p30" title="WhatsApp Image 2026-03-21 at 12.54.01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5175" y="1338225"/>
            <a:ext cx="3849475" cy="30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0"/>
          <p:cNvSpPr txBox="1"/>
          <p:nvPr/>
        </p:nvSpPr>
        <p:spPr>
          <a:xfrm>
            <a:off x="5080512" y="4343150"/>
            <a:ext cx="371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00"/>
                </a:solidFill>
              </a:rPr>
              <a:t>Confusion Matrix of Final Model</a:t>
            </a:r>
            <a:endParaRPr sz="18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22" b="1"/>
              <a:t>Best Model</a:t>
            </a:r>
            <a:endParaRPr sz="4022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3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35187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765"/>
              <a:t>Random Forest</a:t>
            </a:r>
            <a:endParaRPr sz="7765"/>
          </a:p>
          <a:p>
            <a:pPr marL="457200" lvl="0" indent="-35187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765"/>
              <a:t>Achieved high and stable accuracy</a:t>
            </a:r>
            <a:endParaRPr sz="7765"/>
          </a:p>
          <a:p>
            <a:pPr marL="457200" lvl="0" indent="-35187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765"/>
              <a:t>Performed well on both training and testing data</a:t>
            </a:r>
            <a:endParaRPr sz="7765"/>
          </a:p>
          <a:p>
            <a:pPr marL="457200" lvl="0" indent="-35187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765"/>
              <a:t>Handles complex feature relationships effectively</a:t>
            </a:r>
            <a:endParaRPr sz="7765"/>
          </a:p>
          <a:p>
            <a:pPr marL="457200" lvl="0" indent="-351875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765"/>
              <a:t>Provides feature importance for better understanding</a:t>
            </a:r>
            <a:endParaRPr sz="776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/>
              <a:t>Future scope</a:t>
            </a:r>
            <a:endParaRPr sz="4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●"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Build a deep-learning model on sensor data (pressure, temp, vibration) for real-time fault prediction.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●"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Deploy it as a real-time alert service on the shop floor (edge + dashboard).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●"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Integrate IoT sensors across all critical machines for continuous monitoring and auto-retraining of the model.</a:t>
            </a:r>
            <a:endParaRPr sz="2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>
            <a:spLocks noGrp="1"/>
          </p:cNvSpPr>
          <p:nvPr>
            <p:ph type="body" idx="1"/>
          </p:nvPr>
        </p:nvSpPr>
        <p:spPr>
          <a:xfrm>
            <a:off x="311700" y="1450625"/>
            <a:ext cx="8520600" cy="21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146050" indent="0">
              <a:buNone/>
            </a:pPr>
            <a:r>
              <a:rPr lang="en-US" sz="14400" b="1" dirty="0"/>
              <a:t>Appendix</a:t>
            </a:r>
            <a:r>
              <a:rPr lang="en-US" sz="14400" dirty="0" smtClean="0"/>
              <a:t>:</a:t>
            </a:r>
          </a:p>
          <a:p>
            <a:pPr marL="146050" indent="0">
              <a:buNone/>
            </a:pPr>
            <a:endParaRPr lang="en-US" sz="14400" dirty="0"/>
          </a:p>
          <a:p>
            <a:r>
              <a:rPr lang="en-US" sz="6000" b="1" dirty="0"/>
              <a:t>Code snippe</a:t>
            </a:r>
            <a:r>
              <a:rPr lang="en-US" sz="6000" dirty="0"/>
              <a:t>t:</a:t>
            </a:r>
          </a:p>
          <a:p>
            <a:r>
              <a:rPr lang="en-US" sz="6000" dirty="0"/>
              <a:t>python import pandas as </a:t>
            </a:r>
            <a:r>
              <a:rPr lang="en-US" sz="6000" dirty="0" err="1"/>
              <a:t>pd</a:t>
            </a:r>
            <a:endParaRPr lang="en-US" sz="6000" dirty="0"/>
          </a:p>
          <a:p>
            <a:r>
              <a:rPr lang="en-US" sz="6000" dirty="0" err="1"/>
              <a:t>df</a:t>
            </a:r>
            <a:r>
              <a:rPr lang="en-US" sz="6000" dirty="0"/>
              <a:t> = </a:t>
            </a:r>
            <a:r>
              <a:rPr lang="en-US" sz="6000" dirty="0" err="1"/>
              <a:t>pd.read_csv</a:t>
            </a:r>
            <a:r>
              <a:rPr lang="en-US" sz="6000" dirty="0"/>
              <a:t>('machine_data.csv')</a:t>
            </a:r>
          </a:p>
          <a:p>
            <a:r>
              <a:rPr lang="en-US" sz="6000" dirty="0" err="1"/>
              <a:t>df</a:t>
            </a:r>
            <a:r>
              <a:rPr lang="en-US" sz="6000" dirty="0"/>
              <a:t>['</a:t>
            </a:r>
            <a:r>
              <a:rPr lang="en-US" sz="6000" dirty="0" err="1"/>
              <a:t>fault_rate</a:t>
            </a:r>
            <a:r>
              <a:rPr lang="en-US" sz="6000" dirty="0"/>
              <a:t>'] = </a:t>
            </a:r>
            <a:r>
              <a:rPr lang="en-US" sz="6000" dirty="0" err="1"/>
              <a:t>df.faults</a:t>
            </a:r>
            <a:r>
              <a:rPr lang="en-US" sz="6000" dirty="0"/>
              <a:t> / </a:t>
            </a:r>
            <a:r>
              <a:rPr lang="en-US" sz="6000" dirty="0" err="1"/>
              <a:t>df.cycles</a:t>
            </a:r>
            <a:endParaRPr lang="en-US" sz="6000" dirty="0"/>
          </a:p>
          <a:p>
            <a:r>
              <a:rPr lang="en-US" sz="6000" b="1" dirty="0"/>
              <a:t>Extra graph</a:t>
            </a:r>
            <a:r>
              <a:rPr lang="en-US" sz="6000" dirty="0"/>
              <a:t>: fault rate vs. pressure scatter plot (shows upward trend beyond 220 </a:t>
            </a:r>
            <a:r>
              <a:rPr lang="en-US" sz="6000" dirty="0" err="1"/>
              <a:t>kPa</a:t>
            </a:r>
            <a:r>
              <a:rPr lang="en-US" sz="6000" dirty="0"/>
              <a:t>).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700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834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>
            <a:spLocks noGrp="1"/>
          </p:cNvSpPr>
          <p:nvPr>
            <p:ph type="body" idx="1"/>
          </p:nvPr>
        </p:nvSpPr>
        <p:spPr>
          <a:xfrm>
            <a:off x="311700" y="1450625"/>
            <a:ext cx="8520600" cy="29545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146050" indent="0">
              <a:buNone/>
            </a:pPr>
            <a:r>
              <a:rPr lang="en-US" sz="7000" b="1" dirty="0"/>
              <a:t>References</a:t>
            </a:r>
            <a:r>
              <a:rPr lang="en-US" sz="7000" b="1" dirty="0" smtClean="0"/>
              <a:t>:</a:t>
            </a:r>
          </a:p>
          <a:p>
            <a:pPr marL="146050" indent="0">
              <a:buNone/>
            </a:pPr>
            <a:endParaRPr lang="en-US" sz="7000" dirty="0"/>
          </a:p>
          <a:p>
            <a:r>
              <a:rPr lang="en-US" sz="6000" dirty="0"/>
              <a:t>Smith et al., “Predictive Maintenance using Deep Learning,” Journal of Manufacturing Systems, 2023.TensorFlow documentation, tensorflow.org/guide/</a:t>
            </a:r>
            <a:r>
              <a:rPr lang="en-US" sz="6000" dirty="0" err="1"/>
              <a:t>keras.Company</a:t>
            </a:r>
            <a:r>
              <a:rPr lang="en-US" sz="6000" dirty="0"/>
              <a:t> machine manual v2.1 (sensor specs, calibration procedure).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700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8738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>
            <a:spLocks noGrp="1"/>
          </p:cNvSpPr>
          <p:nvPr>
            <p:ph type="title"/>
          </p:nvPr>
        </p:nvSpPr>
        <p:spPr>
          <a:xfrm>
            <a:off x="13632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/>
              <a:t>Final Remark</a:t>
            </a:r>
            <a:endParaRPr sz="40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3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●"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Overall, the model performs well on the dataset. </a:t>
            </a:r>
            <a:endParaRPr sz="230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Montserrat"/>
              <a:buChar char="●"/>
            </a:pPr>
            <a:r>
              <a:rPr lang="en" sz="2300">
                <a:latin typeface="Montserrat"/>
                <a:ea typeface="Montserrat"/>
                <a:cs typeface="Montserrat"/>
                <a:sym typeface="Montserrat"/>
              </a:rPr>
              <a:t>With proper tuning and feature selection, the prediction accuracy can be further improved.</a:t>
            </a:r>
            <a:endParaRPr sz="2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 b="1"/>
              <a:t>Conclusion</a:t>
            </a:r>
            <a:endParaRPr sz="3620" b="1"/>
          </a:p>
        </p:txBody>
      </p:sp>
      <p:sp>
        <p:nvSpPr>
          <p:cNvPr id="270" name="Google Shape;270;p34"/>
          <p:cNvSpPr txBox="1">
            <a:spLocks noGrp="1"/>
          </p:cNvSpPr>
          <p:nvPr>
            <p:ph type="body" idx="1"/>
          </p:nvPr>
        </p:nvSpPr>
        <p:spPr>
          <a:xfrm>
            <a:off x="1361450" y="1472375"/>
            <a:ext cx="6975000" cy="28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457200" lvl="0" indent="-35004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650"/>
              <a:t> Built a classification model to predict Pass/Fail outcomes</a:t>
            </a:r>
            <a:endParaRPr sz="7650"/>
          </a:p>
          <a:p>
            <a:pPr marL="457200" lvl="0" indent="-35004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650"/>
              <a:t>Performed data cleaning, analysis, and preprocessing for better data quality</a:t>
            </a:r>
            <a:endParaRPr sz="7650"/>
          </a:p>
          <a:p>
            <a:pPr marL="457200" lvl="0" indent="-35004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650"/>
              <a:t>Trained and compared multiple models</a:t>
            </a:r>
            <a:endParaRPr sz="7650"/>
          </a:p>
          <a:p>
            <a:pPr marL="457200" lvl="0" indent="-35004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650"/>
              <a:t>Applied hyperparameter tuning to improve performance</a:t>
            </a:r>
            <a:endParaRPr sz="7650"/>
          </a:p>
          <a:p>
            <a:pPr marL="457200" lvl="0" indent="-350043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650"/>
              <a:t>Random Forest achieved the best overall performance</a:t>
            </a:r>
            <a:endParaRPr sz="7650"/>
          </a:p>
          <a:p>
            <a:pPr marL="0" lvl="0" indent="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25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076D2"/>
            </a:gs>
            <a:gs pos="100000">
              <a:srgbClr val="093053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>
            <a:spLocks noGrp="1"/>
          </p:cNvSpPr>
          <p:nvPr>
            <p:ph type="body" idx="1"/>
          </p:nvPr>
        </p:nvSpPr>
        <p:spPr>
          <a:xfrm>
            <a:off x="311700" y="1450625"/>
            <a:ext cx="8520600" cy="214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 b="1" dirty="0"/>
              <a:t>Thank You</a:t>
            </a:r>
            <a:endParaRPr sz="5700"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748</Words>
  <Application>Microsoft Office PowerPoint</Application>
  <PresentationFormat>On-screen Show (16:9)</PresentationFormat>
  <Paragraphs>149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Montserrat</vt:lpstr>
      <vt:lpstr>Lato</vt:lpstr>
      <vt:lpstr>Focus</vt:lpstr>
      <vt:lpstr>Semiconductor Manufacturing Process</vt:lpstr>
      <vt:lpstr>Introduction</vt:lpstr>
      <vt:lpstr>Problem Statement </vt:lpstr>
      <vt:lpstr> Project Objective </vt:lpstr>
      <vt:lpstr>Business Insights  </vt:lpstr>
      <vt:lpstr>Recommendations   </vt:lpstr>
      <vt:lpstr>Dataset Description </vt:lpstr>
      <vt:lpstr>Data Cleaning </vt:lpstr>
      <vt:lpstr>Data Analysis &amp; Visualization</vt:lpstr>
      <vt:lpstr>Data Preprocessing </vt:lpstr>
      <vt:lpstr>Train-Test &amp; Scaling  </vt:lpstr>
      <vt:lpstr> Models </vt:lpstr>
      <vt:lpstr>Cross Validation   </vt:lpstr>
      <vt:lpstr>Hyperparameter Tuning</vt:lpstr>
      <vt:lpstr>Model Results</vt:lpstr>
      <vt:lpstr>Model Performance</vt:lpstr>
      <vt:lpstr>Comparing Models</vt:lpstr>
      <vt:lpstr>Confusion Matrix</vt:lpstr>
      <vt:lpstr>Best Model  </vt:lpstr>
      <vt:lpstr>Future scope   </vt:lpstr>
      <vt:lpstr>PowerPoint Presentation</vt:lpstr>
      <vt:lpstr>PowerPoint Presentation</vt:lpstr>
      <vt:lpstr>Final Remark </vt:lpstr>
      <vt:lpstr>Conclusion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Semiconductor Manufacturing Process</dc:title>
  <cp:lastModifiedBy>asus</cp:lastModifiedBy>
  <cp:revision>1</cp:revision>
  <dcterms:modified xsi:type="dcterms:W3CDTF">2026-04-01T16:59:32Z</dcterms:modified>
</cp:coreProperties>
</file>